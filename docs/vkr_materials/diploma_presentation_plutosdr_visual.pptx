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2124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234225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528001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810218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199763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029136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99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654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907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007E26-3F97-CE8C-ED48-6BFDDB9786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0300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9312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7383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A0AD6-E483-59B1-A2A5-92693B3161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275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791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7613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26D458-0449-71F0-ED9D-B2BCF9933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574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889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8716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92EF36-E92E-0D4B-2A59-F3BC48844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23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2678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9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F936E3-F9A2-CC92-D622-7494644A5D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184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6299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93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A38584-8869-3D24-CA46-7425E8901B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231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5696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4064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2FDCF-ECA1-4A5A-A708-E80CF34B05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494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46106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1695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06129B-9D70-389D-6D9E-A2A8F9EF0B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339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185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9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FB19BA-F6E1-0A16-E876-9BBFBC886D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123861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200682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638625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8113316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4684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6245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1801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825555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51970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48626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439777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11213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463138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758343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35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9571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154587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8247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88020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4360306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4675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0109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0907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772194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774109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793222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881963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474912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47825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9983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090700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3014279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54287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84336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47999331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14245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59844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863045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58879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08898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394281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89605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07589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4857340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55240549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48609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10963448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415905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7498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826989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44694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416964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59213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49143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46467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66293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6543292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76098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54279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63302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283262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57467909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236809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64204" name="Rectangle 1"/>
          <p:cNvSpPr/>
          <p:nvPr/>
        </p:nvSpPr>
        <p:spPr bwMode="auto">
          <a:xfrm>
            <a:off x="0" y="0"/>
            <a:ext cx="3840480" cy="6858000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6551363" name="TextBox 2"/>
          <p:cNvSpPr txBox="1"/>
          <p:nvPr/>
        </p:nvSpPr>
        <p:spPr bwMode="auto">
          <a:xfrm>
            <a:off x="640080" y="91440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Bahnschrift"/>
              </a:defRPr>
            </a:pPr>
            <a:r>
              <a:rPr/>
              <a:t>PlutoSDR</a:t>
            </a:r>
            <a:br>
              <a:rPr/>
            </a:br>
            <a:r>
              <a:rPr/>
              <a:t>Protocol Tool</a:t>
            </a:r>
            <a:endParaRPr/>
          </a:p>
        </p:txBody>
      </p:sp>
      <p:sp>
        <p:nvSpPr>
          <p:cNvPr id="1807333656" name="TextBox 3"/>
          <p:cNvSpPr txBox="1"/>
          <p:nvPr/>
        </p:nvSpPr>
        <p:spPr bwMode="auto">
          <a:xfrm>
            <a:off x="640080" y="4754880"/>
            <a:ext cx="2560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rPr/>
              <a:t>Студент: Н.С. Гурачевский</a:t>
            </a:r>
            <a:br>
              <a:rPr/>
            </a:br>
            <a:r>
              <a:rPr/>
              <a:t>Группа: ИА-232</a:t>
            </a:r>
            <a:br>
              <a:rPr/>
            </a:br>
            <a:r>
              <a:rPr/>
              <a:t>2026</a:t>
            </a:r>
            <a:endParaRPr/>
          </a:p>
        </p:txBody>
      </p:sp>
      <p:sp>
        <p:nvSpPr>
          <p:cNvPr id="1944428418" name="TextBox 4"/>
          <p:cNvSpPr txBox="1"/>
          <p:nvPr/>
        </p:nvSpPr>
        <p:spPr bwMode="auto">
          <a:xfrm>
            <a:off x="4206240" y="1143000"/>
            <a:ext cx="7133039" cy="1798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 sz="2800"/>
              <a:t>Разработка программного обеспечения на базе SDR для анализа уязвимостей и эмуляции сигналов в системах радиоуправления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983996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9494534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97080984" name="TextBox 3"/>
          <p:cNvSpPr txBox="1"/>
          <p:nvPr/>
        </p:nvSpPr>
        <p:spPr bwMode="auto">
          <a:xfrm>
            <a:off x="841248" y="55778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/>
              <a:t>2</a:t>
            </a:r>
            <a:endParaRPr/>
          </a:p>
        </p:txBody>
      </p:sp>
      <p:sp>
        <p:nvSpPr>
          <p:cNvPr id="692887796" name="TextBox 4"/>
          <p:cNvSpPr txBox="1"/>
          <p:nvPr/>
        </p:nvSpPr>
        <p:spPr bwMode="auto">
          <a:xfrm>
            <a:off x="1481328" y="530352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ОСНОВАНИЕ ПРОЕКТА</a:t>
            </a:r>
            <a:endParaRPr/>
          </a:p>
        </p:txBody>
      </p:sp>
      <p:sp>
        <p:nvSpPr>
          <p:cNvPr id="359114043" name="TextBox 5"/>
          <p:cNvSpPr txBox="1"/>
          <p:nvPr/>
        </p:nvSpPr>
        <p:spPr bwMode="auto">
          <a:xfrm>
            <a:off x="713232" y="868680"/>
            <a:ext cx="8412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Актуальность, цель и задачи</a:t>
            </a:r>
            <a:endParaRPr/>
          </a:p>
        </p:txBody>
      </p:sp>
      <p:sp>
        <p:nvSpPr>
          <p:cNvPr id="879125726" name="Rounded Rectangle 7"/>
          <p:cNvSpPr/>
          <p:nvPr/>
        </p:nvSpPr>
        <p:spPr bwMode="auto">
          <a:xfrm>
            <a:off x="731520" y="1645920"/>
            <a:ext cx="5303520" cy="365760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1D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6343052" name="Rounded Rectangle 8"/>
          <p:cNvSpPr/>
          <p:nvPr/>
        </p:nvSpPr>
        <p:spPr bwMode="auto">
          <a:xfrm>
            <a:off x="731520" y="1645920"/>
            <a:ext cx="5303520" cy="109728"/>
          </a:xfrm>
          <a:prstGeom prst="roundRect">
            <a:avLst>
              <a:gd name="adj" fmla="val 16667"/>
            </a:avLst>
          </a:prstGeom>
          <a:solidFill>
            <a:srgbClr val="1D7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84175302" name="TextBox 9"/>
          <p:cNvSpPr txBox="1"/>
          <p:nvPr/>
        </p:nvSpPr>
        <p:spPr bwMode="auto">
          <a:xfrm>
            <a:off x="896112" y="1810512"/>
            <a:ext cx="49743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7B7E"/>
                </a:solidFill>
                <a:latin typeface="Bahnschrift"/>
              </a:defRPr>
            </a:pPr>
            <a:r>
              <a:rPr/>
              <a:t>Актуальность</a:t>
            </a:r>
            <a:endParaRPr/>
          </a:p>
        </p:txBody>
      </p:sp>
      <p:sp>
        <p:nvSpPr>
          <p:cNvPr id="2065614882" name="TextBox 10"/>
          <p:cNvSpPr txBox="1"/>
          <p:nvPr/>
        </p:nvSpPr>
        <p:spPr bwMode="auto">
          <a:xfrm>
            <a:off x="896112" y="2148840"/>
            <a:ext cx="5014654" cy="192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lang="ru-RU" sz="2000"/>
              <a:t>У</a:t>
            </a:r>
            <a:r>
              <a:rPr sz="2000"/>
              <a:t>ниверсальные SDR-</a:t>
            </a:r>
            <a:r>
              <a:rPr lang="ru-RU" sz="2000"/>
              <a:t>утилиты </a:t>
            </a:r>
            <a:r>
              <a:rPr sz="2000"/>
              <a:t>часто избыточны для </a:t>
            </a:r>
            <a:r>
              <a:rPr lang="ru-RU" sz="2000"/>
              <a:t>хакерских</a:t>
            </a:r>
            <a:r>
              <a:rPr sz="2000"/>
              <a:t> задач, поэтому нужен специализированный и упрощенный инструмент</a:t>
            </a:r>
            <a:r>
              <a:rPr lang="ru-RU" sz="2000"/>
              <a:t>, который также позволяет передачу сигнала, а не только его анализ</a:t>
            </a:r>
            <a:r>
              <a:rPr sz="2000"/>
              <a:t>.</a:t>
            </a:r>
            <a:endParaRPr/>
          </a:p>
        </p:txBody>
      </p:sp>
      <p:sp>
        <p:nvSpPr>
          <p:cNvPr id="1475532591" name="Rounded Rectangle 11"/>
          <p:cNvSpPr/>
          <p:nvPr/>
        </p:nvSpPr>
        <p:spPr bwMode="auto">
          <a:xfrm>
            <a:off x="6263640" y="1645920"/>
            <a:ext cx="5166360" cy="365760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CB7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78576127" name="Rounded Rectangle 12"/>
          <p:cNvSpPr/>
          <p:nvPr/>
        </p:nvSpPr>
        <p:spPr bwMode="auto">
          <a:xfrm>
            <a:off x="6263640" y="1645920"/>
            <a:ext cx="5166360" cy="109728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5263896" name="TextBox 13"/>
          <p:cNvSpPr txBox="1"/>
          <p:nvPr/>
        </p:nvSpPr>
        <p:spPr bwMode="auto">
          <a:xfrm>
            <a:off x="6428231" y="1810512"/>
            <a:ext cx="4837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B774A"/>
                </a:solidFill>
                <a:latin typeface="Bahnschrift"/>
              </a:defRPr>
            </a:pPr>
            <a:r>
              <a:rPr/>
              <a:t>Цель и задачи</a:t>
            </a:r>
            <a:endParaRPr/>
          </a:p>
        </p:txBody>
      </p:sp>
      <p:sp>
        <p:nvSpPr>
          <p:cNvPr id="48564190" name="TextBox 14"/>
          <p:cNvSpPr txBox="1"/>
          <p:nvPr/>
        </p:nvSpPr>
        <p:spPr bwMode="auto">
          <a:xfrm>
            <a:off x="6428230" y="2148840"/>
            <a:ext cx="4838975" cy="283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sz="2000"/>
              <a:t>Цель: разработать ПО на базе PlutoSDR для приема, визуального контроля, записи и повторной передачи радиосигналов.</a:t>
            </a:r>
            <a:br>
              <a:rPr sz="2000"/>
            </a:br>
            <a:br>
              <a:rPr sz="2000"/>
            </a:br>
            <a:r>
              <a:rPr sz="2000"/>
              <a:t>Задачи: определить требования, спроектировать архитектуру, реализовать интерфейс и проверить работу программы.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792388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53769359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74028259" name="TextBox 3"/>
          <p:cNvSpPr txBox="1"/>
          <p:nvPr/>
        </p:nvSpPr>
        <p:spPr bwMode="auto">
          <a:xfrm>
            <a:off x="841248" y="557784"/>
            <a:ext cx="3108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/>
              <a:t>3</a:t>
            </a:r>
            <a:endParaRPr/>
          </a:p>
        </p:txBody>
      </p:sp>
      <p:sp>
        <p:nvSpPr>
          <p:cNvPr id="949540860" name="TextBox 4"/>
          <p:cNvSpPr txBox="1"/>
          <p:nvPr/>
        </p:nvSpPr>
        <p:spPr bwMode="auto">
          <a:xfrm>
            <a:off x="1481328" y="530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ТЕОРИЯ</a:t>
            </a:r>
            <a:endParaRPr/>
          </a:p>
        </p:txBody>
      </p:sp>
      <p:sp>
        <p:nvSpPr>
          <p:cNvPr id="1203366719" name="TextBox 5"/>
          <p:cNvSpPr txBox="1"/>
          <p:nvPr/>
        </p:nvSpPr>
        <p:spPr bwMode="auto">
          <a:xfrm>
            <a:off x="713232" y="8686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SDR, I/Q и анализ эфира</a:t>
            </a:r>
            <a:endParaRPr/>
          </a:p>
        </p:txBody>
      </p:sp>
      <p:sp>
        <p:nvSpPr>
          <p:cNvPr id="1093880263" name="Rounded Rectangle 7"/>
          <p:cNvSpPr/>
          <p:nvPr/>
        </p:nvSpPr>
        <p:spPr bwMode="auto">
          <a:xfrm>
            <a:off x="777240" y="1645920"/>
            <a:ext cx="4892039" cy="196596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1D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2779079" name="Rounded Rectangle 8"/>
          <p:cNvSpPr/>
          <p:nvPr/>
        </p:nvSpPr>
        <p:spPr bwMode="auto">
          <a:xfrm>
            <a:off x="777240" y="1645920"/>
            <a:ext cx="4892039" cy="109728"/>
          </a:xfrm>
          <a:prstGeom prst="roundRect">
            <a:avLst>
              <a:gd name="adj" fmla="val 16667"/>
            </a:avLst>
          </a:prstGeom>
          <a:solidFill>
            <a:srgbClr val="1D7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03085208" name="TextBox 9"/>
          <p:cNvSpPr txBox="1"/>
          <p:nvPr/>
        </p:nvSpPr>
        <p:spPr bwMode="auto">
          <a:xfrm>
            <a:off x="941832" y="1810512"/>
            <a:ext cx="45628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7B7E"/>
                </a:solidFill>
                <a:latin typeface="Bahnschrift"/>
              </a:defRPr>
            </a:pPr>
            <a:r>
              <a:rPr/>
              <a:t>Ключевые понятия</a:t>
            </a:r>
            <a:endParaRPr/>
          </a:p>
        </p:txBody>
      </p:sp>
      <p:sp>
        <p:nvSpPr>
          <p:cNvPr id="372124537" name="TextBox 10"/>
          <p:cNvSpPr txBox="1"/>
          <p:nvPr/>
        </p:nvSpPr>
        <p:spPr bwMode="auto">
          <a:xfrm>
            <a:off x="941832" y="2148840"/>
            <a:ext cx="4562855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/>
              <a:t>SDR переносит обработку радиосигнала в программную среду: частота, полоса, усиление и методы анализа меняются без переделки аппаратуры. I/Q-выборки позволяют строить спектр и водопад, сравнивать временную структуру кадров и выделять признаки протокола.</a:t>
            </a:r>
            <a:endParaRPr/>
          </a:p>
        </p:txBody>
      </p:sp>
      <p:sp>
        <p:nvSpPr>
          <p:cNvPr id="1215471306" name="Rounded Rectangle 11"/>
          <p:cNvSpPr/>
          <p:nvPr/>
        </p:nvSpPr>
        <p:spPr bwMode="auto">
          <a:xfrm>
            <a:off x="6462932" y="1755648"/>
            <a:ext cx="4892039" cy="178308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CB7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4675630" name="Rounded Rectangle 12"/>
          <p:cNvSpPr/>
          <p:nvPr/>
        </p:nvSpPr>
        <p:spPr bwMode="auto">
          <a:xfrm>
            <a:off x="6521547" y="1645920"/>
            <a:ext cx="4892039" cy="109728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81259408" name="TextBox 13"/>
          <p:cNvSpPr txBox="1"/>
          <p:nvPr/>
        </p:nvSpPr>
        <p:spPr bwMode="auto">
          <a:xfrm>
            <a:off x="6521547" y="1810512"/>
            <a:ext cx="456285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B774A"/>
                </a:solidFill>
                <a:latin typeface="Bahnschrift"/>
              </a:defRPr>
            </a:pPr>
            <a:r>
              <a:rPr/>
              <a:t>Почему это важно для безопасности</a:t>
            </a:r>
            <a:endParaRPr/>
          </a:p>
        </p:txBody>
      </p:sp>
      <p:sp>
        <p:nvSpPr>
          <p:cNvPr id="1445554170" name="TextBox 14"/>
          <p:cNvSpPr txBox="1"/>
          <p:nvPr/>
        </p:nvSpPr>
        <p:spPr bwMode="auto">
          <a:xfrm>
            <a:off x="6627524" y="2148840"/>
            <a:ext cx="4562855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/>
              <a:t>Для систем радиоуправления такой подход удобен тем, что дает возможность наблюдать эфир, записывать реальные передачи и проверять, насколько канал устойчив к повтору команды, шуму, помехам и подмене сигнала.</a:t>
            </a:r>
            <a:endParaRPr/>
          </a:p>
        </p:txBody>
      </p:sp>
    </p:spTree>
  </p:cSld>
  <p:clrMapOvr>
    <a:masterClrMapping/>
  </p:clrMapOvr>
  <ns2:AlternateContent>
    <ns2:Choice Requires="p159">
      <p:transition ns3:dur="2000" advClick="1"/>
    </ns2:Choice>
    <ns2:Fallback>
      <p:transition advClick="1"/>
    </ns2:Fallback>
  </ns2:AlternateContent>
</p:sld>
</file>

<file path=ppt/slides/slide4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910072" name="Rectangle 9"/>
          <p:cNvSpPr/>
          <p:nvPr/>
        </p:nvSpPr>
        <p:spPr bwMode="auto">
          <a:xfrm>
            <a:off x="6318504" y="1746504"/>
            <a:ext cx="4828032" cy="391363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2109360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51308369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4092120" name="TextBox 3"/>
          <p:cNvSpPr txBox="1"/>
          <p:nvPr/>
        </p:nvSpPr>
        <p:spPr bwMode="auto">
          <a:xfrm>
            <a:off x="841248" y="55778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/>
              <a:t>4</a:t>
            </a:r>
            <a:endParaRPr/>
          </a:p>
        </p:txBody>
      </p:sp>
      <p:sp>
        <p:nvSpPr>
          <p:cNvPr id="2034849277" name="TextBox 4"/>
          <p:cNvSpPr txBox="1"/>
          <p:nvPr/>
        </p:nvSpPr>
        <p:spPr bwMode="auto">
          <a:xfrm>
            <a:off x="1481328" y="530352"/>
            <a:ext cx="3474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ТЕОРИЯ</a:t>
            </a:r>
            <a:endParaRPr/>
          </a:p>
        </p:txBody>
      </p:sp>
      <p:sp>
        <p:nvSpPr>
          <p:cNvPr id="1482820200" name="TextBox 5"/>
          <p:cNvSpPr txBox="1"/>
          <p:nvPr/>
        </p:nvSpPr>
        <p:spPr bwMode="auto">
          <a:xfrm>
            <a:off x="713232" y="868680"/>
            <a:ext cx="8420399" cy="45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 lang="ru-RU"/>
              <a:t>Типовые уязвимости и их эксплуатация</a:t>
            </a:r>
            <a:r>
              <a:rPr/>
              <a:t>Основные сценарии</a:t>
            </a:r>
            <a:endParaRPr/>
          </a:p>
        </p:txBody>
      </p:sp>
      <p:sp>
        <p:nvSpPr>
          <p:cNvPr id="881362881" name="TextBox 7"/>
          <p:cNvSpPr txBox="1"/>
          <p:nvPr/>
        </p:nvSpPr>
        <p:spPr bwMode="auto">
          <a:xfrm>
            <a:off x="868680" y="17373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0262A"/>
                </a:solidFill>
                <a:latin typeface="Aptos"/>
              </a:defRPr>
            </a:pPr>
            <a:r>
              <a:rPr/>
              <a:t>1. Отсутствие шифрования и аутентификации: нарушитель может пассивно перехватывать радиообмен, выделять повторяющиеся поля, сопоставлять команды и готовить подмену или повтор ранее увиденных кадров.</a:t>
            </a:r>
            <a:endParaRPr/>
          </a:p>
          <a:p>
            <a:pPr>
              <a:spcAft>
                <a:spcPts val="900"/>
              </a:spcAft>
              <a:defRPr sz="1800">
                <a:solidFill>
                  <a:srgbClr val="20262A"/>
                </a:solidFill>
                <a:latin typeface="Aptos"/>
              </a:defRPr>
            </a:pPr>
            <a:r>
              <a:rPr/>
              <a:t>2. Статические или слабо меняющиеся коды: такой протокол используют против него через replay-сценарий, когда приемнику подается ранее записанный валидный пакет.</a:t>
            </a:r>
            <a:endParaRPr/>
          </a:p>
          <a:p>
            <a:pPr>
              <a:spcAft>
                <a:spcPts val="900"/>
              </a:spcAft>
              <a:defRPr sz="1800">
                <a:solidFill>
                  <a:srgbClr val="20262A"/>
                </a:solidFill>
                <a:latin typeface="Aptos"/>
              </a:defRPr>
            </a:pPr>
            <a:r>
              <a:rPr/>
              <a:t>3. Фиксированная частота и узкая полоса: канал легче обнаружить, сопровождать и дестабилизировать помехами или навязыванием ложной активности.</a:t>
            </a:r>
            <a:endParaRPr/>
          </a:p>
          <a:p>
            <a:pPr>
              <a:spcAft>
                <a:spcPts val="900"/>
              </a:spcAft>
              <a:defRPr sz="1800">
                <a:solidFill>
                  <a:srgbClr val="20262A"/>
                </a:solidFill>
                <a:latin typeface="Aptos"/>
              </a:defRPr>
            </a:pPr>
            <a:r>
              <a:rPr/>
              <a:t>4. Слабый контроль целостности: возможны эксперименты с частично искаженными или похожими кадрами, чтобы выяснить, какие ошибки приемник пропускает.</a:t>
            </a:r>
            <a:endParaRPr/>
          </a:p>
        </p:txBody>
      </p:sp>
      <p:pic>
        <p:nvPicPr>
          <p:cNvPr id="2126569767" name="Picture 8" descr="image4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355080" y="1783080"/>
            <a:ext cx="5581227" cy="3840480"/>
          </a:xfrm>
          <a:prstGeom prst="rect">
            <a:avLst/>
          </a:prstGeom>
        </p:spPr>
      </p:pic>
      <p:sp>
        <p:nvSpPr>
          <p:cNvPr id="1437728877" name="TextBox 10"/>
          <p:cNvSpPr txBox="1"/>
          <p:nvPr/>
        </p:nvSpPr>
        <p:spPr bwMode="auto">
          <a:xfrm>
            <a:off x="6446520" y="5669280"/>
            <a:ext cx="4572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36D74"/>
                </a:solidFill>
                <a:latin typeface="Aptos"/>
              </a:defRPr>
            </a:pPr>
            <a:r>
              <a:rPr/>
              <a:t>Следовательно, защита радиосистемы должна учитывать не только факт приема сигнала, но и проверку происхождения, новизны и целостности команды.</a:t>
            </a:r>
            <a:endParaRPr/>
          </a:p>
        </p:txBody>
      </p:sp>
    </p:spTree>
  </p:cSld>
  <p:clrMapOvr>
    <a:masterClrMapping/>
  </p:clrMapOvr>
  <ns3:AlternateContent>
    <ns3:Choice Requires="p159">
      <p:transition ns4:dur="2000" advClick="1"/>
    </ns3:Choice>
    <ns3:Fallback>
      <p:transition advClick="1"/>
    </ns3:Fallback>
  </ns3:AlternateContent>
</p:sld>
</file>

<file path=ppt/slides/slide5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737000" name="Rectangle 8"/>
          <p:cNvSpPr/>
          <p:nvPr/>
        </p:nvSpPr>
        <p:spPr bwMode="auto">
          <a:xfrm>
            <a:off x="740664" y="1609344"/>
            <a:ext cx="6611112" cy="4507992"/>
          </a:xfrm>
          <a:prstGeom prst="rect">
            <a:avLst/>
          </a:prstGeom>
          <a:solidFill>
            <a:srgbClr val="FFFFFF"/>
          </a:solidFill>
          <a:ln w="13970"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06999537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34440642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9649687" name="TextBox 3"/>
          <p:cNvSpPr txBox="1"/>
          <p:nvPr/>
        </p:nvSpPr>
        <p:spPr bwMode="auto">
          <a:xfrm>
            <a:off x="841248" y="557784"/>
            <a:ext cx="311615" cy="289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 lang="ru-RU"/>
              <a:t>5</a:t>
            </a:r>
            <a:endParaRPr/>
          </a:p>
        </p:txBody>
      </p:sp>
      <p:sp>
        <p:nvSpPr>
          <p:cNvPr id="1600694430" name="TextBox 4"/>
          <p:cNvSpPr txBox="1"/>
          <p:nvPr/>
        </p:nvSpPr>
        <p:spPr bwMode="auto">
          <a:xfrm>
            <a:off x="1481328" y="530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ПРИЕМ И АНАЛИЗ</a:t>
            </a:r>
            <a:endParaRPr/>
          </a:p>
        </p:txBody>
      </p:sp>
      <p:sp>
        <p:nvSpPr>
          <p:cNvPr id="139372078" name="TextBox 5"/>
          <p:cNvSpPr txBox="1"/>
          <p:nvPr/>
        </p:nvSpPr>
        <p:spPr bwMode="auto">
          <a:xfrm>
            <a:off x="713232" y="8686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Вкладка «Водопад»</a:t>
            </a:r>
            <a:endParaRPr/>
          </a:p>
        </p:txBody>
      </p:sp>
      <p:sp>
        <p:nvSpPr>
          <p:cNvPr id="1776026421" name="Rounded Rectangle 9"/>
          <p:cNvSpPr/>
          <p:nvPr/>
        </p:nvSpPr>
        <p:spPr bwMode="auto">
          <a:xfrm>
            <a:off x="7589520" y="1783080"/>
            <a:ext cx="3749039" cy="338328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CB7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1812022" name="Rounded Rectangle 10"/>
          <p:cNvSpPr/>
          <p:nvPr/>
        </p:nvSpPr>
        <p:spPr bwMode="auto">
          <a:xfrm>
            <a:off x="7589520" y="1783080"/>
            <a:ext cx="3749039" cy="109728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65959640" name="TextBox 11"/>
          <p:cNvSpPr txBox="1"/>
          <p:nvPr/>
        </p:nvSpPr>
        <p:spPr bwMode="auto">
          <a:xfrm>
            <a:off x="7754112" y="1947671"/>
            <a:ext cx="34198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B774A"/>
                </a:solidFill>
                <a:latin typeface="Bahnschrift"/>
              </a:defRPr>
            </a:pPr>
            <a:r>
              <a:rPr/>
              <a:t>Что позволяет увидеть</a:t>
            </a:r>
            <a:endParaRPr/>
          </a:p>
        </p:txBody>
      </p:sp>
      <p:sp>
        <p:nvSpPr>
          <p:cNvPr id="1638619261" name="TextBox 12"/>
          <p:cNvSpPr txBox="1"/>
          <p:nvPr/>
        </p:nvSpPr>
        <p:spPr bwMode="auto">
          <a:xfrm>
            <a:off x="7754112" y="2286000"/>
            <a:ext cx="3419856" cy="2724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/>
              <a:t>По спектру и водопаду можно определить несущую частоту, ширину занимаемой полосы, уровень сигнала и характер активности: одиночные посылки, периодические кадры или длительные передачи.</a:t>
            </a:r>
            <a:br>
              <a:rPr/>
            </a:br>
            <a:br>
              <a:rPr/>
            </a:br>
            <a:r>
              <a:rPr/>
              <a:t>Это важно для поиска уязвимостей: повторяющаяся импульсная структура, постоянный центр частоты и одинаковая длительность кадров часто указывают на простой протокол.</a:t>
            </a:r>
            <a:br>
              <a:rPr/>
            </a:br>
            <a:br>
              <a:rPr/>
            </a:br>
            <a:r>
              <a:rPr/>
              <a:t>На этапе приема также фиксируются условия эксперимента: частота, усиление, полоса, уровень шума и наличие внешних помех.</a:t>
            </a:r>
            <a:endParaRPr/>
          </a:p>
        </p:txBody>
      </p:sp>
      <p:sp>
        <p:nvSpPr>
          <p:cNvPr id="774473940" name="TextBox 13"/>
          <p:cNvSpPr txBox="1"/>
          <p:nvPr/>
        </p:nvSpPr>
        <p:spPr bwMode="auto">
          <a:xfrm>
            <a:off x="1097280" y="6144768"/>
            <a:ext cx="5852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36D74"/>
                </a:solidFill>
                <a:latin typeface="Aptos"/>
              </a:defRPr>
            </a:pPr>
            <a:r>
              <a:rPr/>
              <a:t>Скриншот иллюстрирует, как визуальный контроль помогает выделять полезный сигнал на фоне эфира.</a:t>
            </a:r>
            <a:endParaRPr/>
          </a:p>
        </p:txBody>
      </p:sp>
      <p:pic>
        <p:nvPicPr>
          <p:cNvPr id="4691501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45651" y="1609344"/>
            <a:ext cx="6606124" cy="4507992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2000" advClick="1"/>
    </ns3:Choice>
    <ns3:Fallback>
      <p:transition advClick="1"/>
    </ns3:Fallback>
  </ns3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775244" name="Rectangle 8"/>
          <p:cNvSpPr/>
          <p:nvPr/>
        </p:nvSpPr>
        <p:spPr bwMode="auto">
          <a:xfrm>
            <a:off x="740664" y="1609344"/>
            <a:ext cx="6656832" cy="4507992"/>
          </a:xfrm>
          <a:prstGeom prst="rect">
            <a:avLst/>
          </a:prstGeom>
          <a:solidFill>
            <a:srgbClr val="FFFFFF"/>
          </a:solidFill>
          <a:ln w="13970"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5774807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05220306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909754" name="TextBox 3"/>
          <p:cNvSpPr txBox="1"/>
          <p:nvPr/>
        </p:nvSpPr>
        <p:spPr bwMode="auto">
          <a:xfrm>
            <a:off x="841248" y="557784"/>
            <a:ext cx="311615" cy="289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 lang="ru-RU"/>
              <a:t>6</a:t>
            </a:r>
            <a:endParaRPr/>
          </a:p>
        </p:txBody>
      </p:sp>
      <p:sp>
        <p:nvSpPr>
          <p:cNvPr id="2082843082" name="TextBox 4"/>
          <p:cNvSpPr txBox="1"/>
          <p:nvPr/>
        </p:nvSpPr>
        <p:spPr bwMode="auto">
          <a:xfrm>
            <a:off x="1481328" y="530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РАБОТА С ЗАПИСЯМИ</a:t>
            </a:r>
            <a:endParaRPr/>
          </a:p>
        </p:txBody>
      </p:sp>
      <p:sp>
        <p:nvSpPr>
          <p:cNvPr id="110074750" name="TextBox 5"/>
          <p:cNvSpPr txBox="1"/>
          <p:nvPr/>
        </p:nvSpPr>
        <p:spPr bwMode="auto">
          <a:xfrm>
            <a:off x="713232" y="8686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Вкладка «Сигналы»</a:t>
            </a:r>
            <a:endParaRPr/>
          </a:p>
        </p:txBody>
      </p:sp>
      <p:sp>
        <p:nvSpPr>
          <p:cNvPr id="1241794854" name="Rounded Rectangle 9"/>
          <p:cNvSpPr/>
          <p:nvPr/>
        </p:nvSpPr>
        <p:spPr bwMode="auto">
          <a:xfrm>
            <a:off x="7635240" y="1783080"/>
            <a:ext cx="3657600" cy="347472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1D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83097518" name="Rounded Rectangle 10"/>
          <p:cNvSpPr/>
          <p:nvPr/>
        </p:nvSpPr>
        <p:spPr bwMode="auto">
          <a:xfrm>
            <a:off x="7635240" y="1783080"/>
            <a:ext cx="3657600" cy="109728"/>
          </a:xfrm>
          <a:prstGeom prst="roundRect">
            <a:avLst>
              <a:gd name="adj" fmla="val 16667"/>
            </a:avLst>
          </a:prstGeom>
          <a:solidFill>
            <a:srgbClr val="1D7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4535106" name="TextBox 11"/>
          <p:cNvSpPr txBox="1"/>
          <p:nvPr/>
        </p:nvSpPr>
        <p:spPr bwMode="auto">
          <a:xfrm>
            <a:off x="7799831" y="1947671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7B7E"/>
                </a:solidFill>
                <a:latin typeface="Bahnschrift"/>
              </a:defRPr>
            </a:pPr>
            <a:r>
              <a:rPr/>
              <a:t>Что делает вкладка</a:t>
            </a:r>
            <a:endParaRPr/>
          </a:p>
        </p:txBody>
      </p:sp>
      <p:sp>
        <p:nvSpPr>
          <p:cNvPr id="656256082" name="TextBox 12"/>
          <p:cNvSpPr txBox="1"/>
          <p:nvPr/>
        </p:nvSpPr>
        <p:spPr bwMode="auto">
          <a:xfrm>
            <a:off x="7799831" y="2286000"/>
            <a:ext cx="3328416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/>
              <a:t>Здесь отображается список сохраненных файлов и открывается выбранная запись.</a:t>
            </a:r>
            <a:br>
              <a:rPr/>
            </a:br>
            <a:br>
              <a:rPr/>
            </a:br>
            <a:r>
              <a:rPr/>
              <a:t>Пользователь может просматривать форму сигнала, его параметры и содержимое, чтобы быстро выбрать нужный фрагмент для дальнейшей работы.</a:t>
            </a:r>
            <a:br>
              <a:rPr/>
            </a:br>
            <a:br>
              <a:rPr/>
            </a:br>
            <a:r>
              <a:rPr/>
              <a:t>Эта вкладка связывает прием сигнала с этапом повторной передачи.</a:t>
            </a:r>
            <a:endParaRPr/>
          </a:p>
        </p:txBody>
      </p:sp>
      <p:sp>
        <p:nvSpPr>
          <p:cNvPr id="988495658" name="TextBox 13"/>
          <p:cNvSpPr txBox="1"/>
          <p:nvPr/>
        </p:nvSpPr>
        <p:spPr bwMode="auto">
          <a:xfrm>
            <a:off x="1097280" y="6144768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36D74"/>
                </a:solidFill>
                <a:latin typeface="Aptos"/>
              </a:defRPr>
            </a:pPr>
            <a:r>
              <a:rPr/>
              <a:t>Скриншот из статьи: просмотр сохраненной записи и ее параметров.</a:t>
            </a:r>
            <a:endParaRPr/>
          </a:p>
        </p:txBody>
      </p:sp>
      <p:pic>
        <p:nvPicPr>
          <p:cNvPr id="8408735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13232" y="1609344"/>
            <a:ext cx="6656832" cy="45079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402946" name="Rectangle 8"/>
          <p:cNvSpPr/>
          <p:nvPr/>
        </p:nvSpPr>
        <p:spPr bwMode="auto">
          <a:xfrm>
            <a:off x="740664" y="1609344"/>
            <a:ext cx="6656832" cy="4507992"/>
          </a:xfrm>
          <a:prstGeom prst="rect">
            <a:avLst/>
          </a:prstGeom>
          <a:solidFill>
            <a:srgbClr val="FFFFFF"/>
          </a:solidFill>
          <a:ln w="13970">
            <a:solidFill>
              <a:srgbClr val="D5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22600244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38634663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12953512" name="TextBox 3"/>
          <p:cNvSpPr txBox="1"/>
          <p:nvPr/>
        </p:nvSpPr>
        <p:spPr bwMode="auto">
          <a:xfrm>
            <a:off x="841248" y="557784"/>
            <a:ext cx="311615" cy="289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 lang="ru-RU"/>
              <a:t>7</a:t>
            </a:r>
            <a:endParaRPr/>
          </a:p>
        </p:txBody>
      </p:sp>
      <p:sp>
        <p:nvSpPr>
          <p:cNvPr id="76935996" name="TextBox 4"/>
          <p:cNvSpPr txBox="1"/>
          <p:nvPr/>
        </p:nvSpPr>
        <p:spPr bwMode="auto">
          <a:xfrm>
            <a:off x="1481328" y="530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ПЕРЕДАЧА И ПРОВЕРКА</a:t>
            </a:r>
            <a:endParaRPr/>
          </a:p>
        </p:txBody>
      </p:sp>
      <p:sp>
        <p:nvSpPr>
          <p:cNvPr id="1483763946" name="TextBox 5"/>
          <p:cNvSpPr txBox="1"/>
          <p:nvPr/>
        </p:nvSpPr>
        <p:spPr bwMode="auto">
          <a:xfrm>
            <a:off x="713232" y="8686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Вкладка «Повтор»</a:t>
            </a:r>
            <a:endParaRPr/>
          </a:p>
        </p:txBody>
      </p:sp>
      <p:sp>
        <p:nvSpPr>
          <p:cNvPr id="580008096" name="Rounded Rectangle 9"/>
          <p:cNvSpPr/>
          <p:nvPr/>
        </p:nvSpPr>
        <p:spPr bwMode="auto">
          <a:xfrm>
            <a:off x="7635240" y="1783080"/>
            <a:ext cx="3657600" cy="347472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CB7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39237150" name="Rounded Rectangle 10"/>
          <p:cNvSpPr/>
          <p:nvPr/>
        </p:nvSpPr>
        <p:spPr bwMode="auto">
          <a:xfrm>
            <a:off x="7635240" y="1783080"/>
            <a:ext cx="3657600" cy="109728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6615814" name="TextBox 11"/>
          <p:cNvSpPr txBox="1"/>
          <p:nvPr/>
        </p:nvSpPr>
        <p:spPr bwMode="auto">
          <a:xfrm>
            <a:off x="7799831" y="1947671"/>
            <a:ext cx="332841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B774A"/>
                </a:solidFill>
                <a:latin typeface="Bahnschrift"/>
              </a:defRPr>
            </a:pPr>
            <a:r>
              <a:rPr/>
              <a:t>Что проверяется</a:t>
            </a:r>
            <a:endParaRPr/>
          </a:p>
        </p:txBody>
      </p:sp>
      <p:sp>
        <p:nvSpPr>
          <p:cNvPr id="1919704731" name="TextBox 12"/>
          <p:cNvSpPr txBox="1"/>
          <p:nvPr/>
        </p:nvSpPr>
        <p:spPr bwMode="auto">
          <a:xfrm>
            <a:off x="7799831" y="2286000"/>
            <a:ext cx="3328416" cy="2816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/>
              <a:t>Передача записанного сигнала позволяет в лабораторных условиях проверить, принимает ли устройство ранее перехваченный пакет без дополнительной проверки источника.</a:t>
            </a:r>
            <a:br>
              <a:rPr/>
            </a:br>
            <a:br>
              <a:rPr/>
            </a:br>
            <a:r>
              <a:rPr/>
              <a:t>Такой режим полезен для демонстрации replay-риска, а также для сравнения поведения приемника при разных уровнях сигнала.</a:t>
            </a:r>
            <a:br>
              <a:rPr/>
            </a:br>
            <a:br>
              <a:rPr/>
            </a:br>
            <a:r>
              <a:rPr/>
              <a:t>Дополнительно тестовый непрерывный шумоподобный сигнал может использоваться для оценки динамического диапазона и визуальной калибровки водопада.</a:t>
            </a:r>
            <a:endParaRPr/>
          </a:p>
        </p:txBody>
      </p:sp>
      <p:sp>
        <p:nvSpPr>
          <p:cNvPr id="712993304" name="TextBox 13"/>
          <p:cNvSpPr txBox="1"/>
          <p:nvPr/>
        </p:nvSpPr>
        <p:spPr bwMode="auto">
          <a:xfrm>
            <a:off x="1097280" y="6144768"/>
            <a:ext cx="5943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36D74"/>
                </a:solidFill>
                <a:latin typeface="Aptos"/>
              </a:defRPr>
            </a:pPr>
            <a:r>
              <a:rPr/>
              <a:t>Окно передачи становится инструментом не только воспроизведения, но и контролируемой проверки устойчивости канала.</a:t>
            </a:r>
            <a:endParaRPr/>
          </a:p>
        </p:txBody>
      </p:sp>
      <p:pic>
        <p:nvPicPr>
          <p:cNvPr id="1163585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740664" y="1632969"/>
            <a:ext cx="6656831" cy="4484366"/>
          </a:xfrm>
          <a:prstGeom prst="rect">
            <a:avLst/>
          </a:prstGeom>
        </p:spPr>
      </p:pic>
    </p:spTree>
  </p:cSld>
  <p:clrMapOvr>
    <a:masterClrMapping/>
  </p:clrMapOvr>
  <ns3:AlternateContent>
    <ns3:Choice Requires="p159">
      <p:transition ns4:dur="2000" advClick="1"/>
    </ns3:Choice>
    <ns3:Fallback>
      <p:transition advClick="1"/>
    </ns3:Fallback>
  </ns3:AlternateContent>
</p:sld>
</file>

<file path=ppt/slides/slide8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794881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28560954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3948045" name="TextBox 3"/>
          <p:cNvSpPr txBox="1"/>
          <p:nvPr/>
        </p:nvSpPr>
        <p:spPr bwMode="auto">
          <a:xfrm>
            <a:off x="841248" y="557784"/>
            <a:ext cx="311615" cy="289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Bahnschrift"/>
              </a:defRPr>
            </a:pPr>
            <a:r>
              <a:rPr lang="ru-RU"/>
              <a:t>8</a:t>
            </a:r>
            <a:endParaRPr/>
          </a:p>
        </p:txBody>
      </p:sp>
      <p:sp>
        <p:nvSpPr>
          <p:cNvPr id="1551335541" name="TextBox 4"/>
          <p:cNvSpPr txBox="1"/>
          <p:nvPr/>
        </p:nvSpPr>
        <p:spPr bwMode="auto">
          <a:xfrm>
            <a:off x="1481328" y="530352"/>
            <a:ext cx="3749039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D7B7E"/>
                </a:solidFill>
                <a:latin typeface="Bahnschrift"/>
              </a:defRPr>
            </a:pPr>
            <a:r>
              <a:rPr/>
              <a:t>УЯЗВИМОСТИ И ЭКСПЛУАТАЦИЯ</a:t>
            </a:r>
            <a:endParaRPr/>
          </a:p>
        </p:txBody>
      </p:sp>
      <p:sp>
        <p:nvSpPr>
          <p:cNvPr id="697615887" name="TextBox 5"/>
          <p:cNvSpPr txBox="1"/>
          <p:nvPr/>
        </p:nvSpPr>
        <p:spPr bwMode="auto">
          <a:xfrm>
            <a:off x="713232" y="868680"/>
            <a:ext cx="8412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Как используют слабые места канала</a:t>
            </a:r>
            <a:endParaRPr/>
          </a:p>
        </p:txBody>
      </p:sp>
      <p:sp>
        <p:nvSpPr>
          <p:cNvPr id="958170833" name="TextBox 6"/>
          <p:cNvSpPr txBox="1"/>
          <p:nvPr/>
        </p:nvSpPr>
        <p:spPr bwMode="auto">
          <a:xfrm>
            <a:off x="11274552" y="6291072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36D74"/>
                </a:solidFill>
                <a:latin typeface="Aptos"/>
              </a:defRPr>
            </a:pPr>
            <a:r>
              <a:rPr/>
              <a:t>Типовые действия нарушителя</a:t>
            </a:r>
            <a:endParaRPr/>
          </a:p>
        </p:txBody>
      </p:sp>
      <p:sp>
        <p:nvSpPr>
          <p:cNvPr id="1846893480" name="Rounded Rectangle 7"/>
          <p:cNvSpPr/>
          <p:nvPr/>
        </p:nvSpPr>
        <p:spPr bwMode="auto">
          <a:xfrm flipH="0" flipV="0">
            <a:off x="777239" y="1691639"/>
            <a:ext cx="3337560" cy="2909667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1D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48650287" name="Rounded Rectangle 8"/>
          <p:cNvSpPr/>
          <p:nvPr/>
        </p:nvSpPr>
        <p:spPr bwMode="auto">
          <a:xfrm>
            <a:off x="777240" y="1691640"/>
            <a:ext cx="3337560" cy="109728"/>
          </a:xfrm>
          <a:prstGeom prst="roundRect">
            <a:avLst>
              <a:gd name="adj" fmla="val 16667"/>
            </a:avLst>
          </a:prstGeom>
          <a:solidFill>
            <a:srgbClr val="1D7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03895557" name="TextBox 9"/>
          <p:cNvSpPr txBox="1"/>
          <p:nvPr/>
        </p:nvSpPr>
        <p:spPr bwMode="auto">
          <a:xfrm>
            <a:off x="941832" y="1856232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7B7E"/>
                </a:solidFill>
                <a:latin typeface="Bahnschrift"/>
              </a:defRPr>
            </a:pPr>
            <a:r>
              <a:rPr/>
              <a:t>На практике уязвимый радиоканал эксплуатируют поэтапно: сначала наблюдают эфир, затем ищут повторяемую структуру пакетов, после чего проверяют реакцию приемника на повтор, подмену или ухудшение условий приема.</a:t>
            </a:r>
            <a:endParaRPr/>
          </a:p>
        </p:txBody>
      </p:sp>
      <p:sp>
        <p:nvSpPr>
          <p:cNvPr id="1160095268" name="TextBox 10"/>
          <p:cNvSpPr txBox="1"/>
          <p:nvPr/>
        </p:nvSpPr>
        <p:spPr bwMode="auto">
          <a:xfrm>
            <a:off x="941832" y="2194560"/>
            <a:ext cx="3009456" cy="1920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sz="2000"/>
              <a:t>Если в протоколе нет надежной аутентификации, даже корректно принятый сигнал не означает, что команда действительно пришла от штатного передатчика.</a:t>
            </a:r>
            <a:endParaRPr sz="2000"/>
          </a:p>
        </p:txBody>
      </p:sp>
      <p:sp>
        <p:nvSpPr>
          <p:cNvPr id="1855491797" name="Rounded Rectangle 11"/>
          <p:cNvSpPr/>
          <p:nvPr/>
        </p:nvSpPr>
        <p:spPr bwMode="auto">
          <a:xfrm flipH="0" flipV="0">
            <a:off x="4434840" y="1691640"/>
            <a:ext cx="3337560" cy="2968282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CB7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4885244" name="Rounded Rectangle 12"/>
          <p:cNvSpPr/>
          <p:nvPr/>
        </p:nvSpPr>
        <p:spPr bwMode="auto">
          <a:xfrm>
            <a:off x="4434840" y="1691640"/>
            <a:ext cx="3337560" cy="109728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66398523" name="TextBox 13"/>
          <p:cNvSpPr txBox="1"/>
          <p:nvPr/>
        </p:nvSpPr>
        <p:spPr bwMode="auto">
          <a:xfrm>
            <a:off x="4599431" y="1856232"/>
            <a:ext cx="30083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CB774A"/>
                </a:solidFill>
                <a:latin typeface="Bahnschrift"/>
              </a:defRPr>
            </a:pPr>
            <a:r>
              <a:rPr/>
              <a:t>Отдельный класс угроз связан не с подменой содержания, а с отказом в работе: рост шумового фона, срыв синхронизации, потеря пакетов и нестабильное управление.</a:t>
            </a:r>
            <a:endParaRPr/>
          </a:p>
        </p:txBody>
      </p:sp>
      <p:sp>
        <p:nvSpPr>
          <p:cNvPr id="2071794105" name="TextBox 14"/>
          <p:cNvSpPr txBox="1"/>
          <p:nvPr/>
        </p:nvSpPr>
        <p:spPr bwMode="auto">
          <a:xfrm>
            <a:off x="4599430" y="2194560"/>
            <a:ext cx="3009456" cy="2225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sz="2000"/>
              <a:t>Почему это важно для диплома</a:t>
            </a:r>
            <a:endParaRPr sz="2000"/>
          </a:p>
        </p:txBody>
      </p:sp>
      <p:sp>
        <p:nvSpPr>
          <p:cNvPr id="814278290" name="Rounded Rectangle 15"/>
          <p:cNvSpPr/>
          <p:nvPr/>
        </p:nvSpPr>
        <p:spPr bwMode="auto">
          <a:xfrm flipH="0" flipV="0">
            <a:off x="8092440" y="1691640"/>
            <a:ext cx="3246120" cy="2968282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1D7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2360753" name="Rounded Rectangle 16"/>
          <p:cNvSpPr/>
          <p:nvPr/>
        </p:nvSpPr>
        <p:spPr bwMode="auto">
          <a:xfrm>
            <a:off x="8092440" y="1691640"/>
            <a:ext cx="3246120" cy="109728"/>
          </a:xfrm>
          <a:prstGeom prst="roundRect">
            <a:avLst>
              <a:gd name="adj" fmla="val 16667"/>
            </a:avLst>
          </a:prstGeom>
          <a:solidFill>
            <a:srgbClr val="1D7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89180666" name="TextBox 17"/>
          <p:cNvSpPr txBox="1"/>
          <p:nvPr/>
        </p:nvSpPr>
        <p:spPr bwMode="auto">
          <a:xfrm>
            <a:off x="8257031" y="1856232"/>
            <a:ext cx="291693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D7B7E"/>
                </a:solidFill>
                <a:latin typeface="Bahnschrift"/>
              </a:defRPr>
            </a:pPr>
            <a:r>
              <a:rPr/>
              <a:t>Программный стенд на базе SDR ценен тем, что позволяет безопасно показывать признаки таких угроз в лабораторной среде и объяснять, какие свойства протокола делают систему более или менее устойчивой.</a:t>
            </a:r>
            <a:endParaRPr/>
          </a:p>
        </p:txBody>
      </p:sp>
      <p:sp>
        <p:nvSpPr>
          <p:cNvPr id="2079554003" name="TextBox 18"/>
          <p:cNvSpPr txBox="1"/>
          <p:nvPr/>
        </p:nvSpPr>
        <p:spPr bwMode="auto">
          <a:xfrm>
            <a:off x="8257030" y="2194560"/>
            <a:ext cx="2918376" cy="2012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sz="1800"/>
              <a:t>Защитный вывод</a:t>
            </a:r>
            <a:endParaRPr sz="1800"/>
          </a:p>
        </p:txBody>
      </p:sp>
      <p:sp>
        <p:nvSpPr>
          <p:cNvPr id="1665322170" name="TextBox 21"/>
          <p:cNvSpPr txBox="1"/>
          <p:nvPr/>
        </p:nvSpPr>
        <p:spPr bwMode="auto">
          <a:xfrm>
            <a:off x="1508759" y="6035039"/>
            <a:ext cx="9144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36D74"/>
                </a:solidFill>
                <a:latin typeface="Aptos"/>
              </a:defRPr>
            </a:pPr>
            <a:r>
              <a:rPr/>
              <a:t>Для снижения риска нужны шифрование, аутентификация, rolling code или иные механизмы новизны сообщения, контроль целостности и меры повышения помехоустойчивости.</a:t>
            </a:r>
            <a:endParaRPr/>
          </a:p>
        </p:txBody>
      </p:sp>
    </p:spTree>
  </p:cSld>
  <p:clrMapOvr>
    <a:masterClrMapping/>
  </p:clrMapOvr>
  <ns2:AlternateContent>
    <ns2:Choice Requires="p159">
      <p:transition ns3:dur="2000" advClick="1"/>
    </ns2:Choice>
    <ns2:Fallback>
      <p:transition advClick="1"/>
    </ns2:Fallback>
  </ns2:AlternateContent>
</p:sld>
</file>

<file path=ppt/slides/slide9.xml><?xml version="1.0" encoding="utf-8"?>
<p:sld xmlns:a="http://schemas.openxmlformats.org/drawingml/2006/main" xmlns:ns2="http://schemas.openxmlformats.org/markup-compatibility/2006" xmlns:ns3="http://schemas.microsoft.com/office/powerpoint/2010/main" xmlns:p="http://schemas.openxmlformats.org/presentationml/2006/main" showMasterPhAnim="0" showMasterSp="1" show="1">
  <p:cSld name="">
    <p:bg>
      <p:bgPr shadeToTitle="0">
        <a:solidFill>
          <a:srgbClr val="F7F4EE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112815" name="Rectangle 1"/>
          <p:cNvSpPr/>
          <p:nvPr/>
        </p:nvSpPr>
        <p:spPr bwMode="auto">
          <a:xfrm>
            <a:off x="0" y="0"/>
            <a:ext cx="12191695" cy="146304"/>
          </a:xfrm>
          <a:prstGeom prst="rect">
            <a:avLst/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9949025" name="Rounded Rectangle 2"/>
          <p:cNvSpPr/>
          <p:nvPr/>
        </p:nvSpPr>
        <p:spPr bwMode="auto">
          <a:xfrm>
            <a:off x="713232" y="502920"/>
            <a:ext cx="566928" cy="347472"/>
          </a:xfrm>
          <a:prstGeom prst="roundRect">
            <a:avLst>
              <a:gd name="adj" fmla="val 16667"/>
            </a:avLst>
          </a:prstGeom>
          <a:solidFill>
            <a:srgbClr val="CB7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86183032" name="TextBox 3"/>
          <p:cNvSpPr txBox="1"/>
          <p:nvPr/>
        </p:nvSpPr>
        <p:spPr bwMode="auto">
          <a:xfrm flipH="0" flipV="0">
            <a:off x="841247" y="502918"/>
            <a:ext cx="440712" cy="366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9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9209759" name="TextBox 4"/>
          <p:cNvSpPr txBox="1"/>
          <p:nvPr/>
        </p:nvSpPr>
        <p:spPr bwMode="auto">
          <a:xfrm>
            <a:off x="1481328" y="530352"/>
            <a:ext cx="3477600" cy="366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946354752" name="TextBox 5"/>
          <p:cNvSpPr txBox="1"/>
          <p:nvPr/>
        </p:nvSpPr>
        <p:spPr bwMode="auto">
          <a:xfrm>
            <a:off x="713232" y="868680"/>
            <a:ext cx="8412840" cy="457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92F44"/>
                </a:solidFill>
                <a:latin typeface="Bahnschrift"/>
              </a:defRPr>
            </a:pPr>
            <a:r>
              <a:rPr/>
              <a:t>Вывод</a:t>
            </a:r>
            <a:endParaRPr/>
          </a:p>
        </p:txBody>
      </p:sp>
      <p:sp>
        <p:nvSpPr>
          <p:cNvPr id="1708769450" name="Rounded Rectangle 7"/>
          <p:cNvSpPr/>
          <p:nvPr/>
        </p:nvSpPr>
        <p:spPr bwMode="auto">
          <a:xfrm>
            <a:off x="822960" y="1783080"/>
            <a:ext cx="10561320" cy="347472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3970">
            <a:solidFill>
              <a:srgbClr val="19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40925986" name="Rounded Rectangle 8"/>
          <p:cNvSpPr/>
          <p:nvPr/>
        </p:nvSpPr>
        <p:spPr bwMode="auto">
          <a:xfrm>
            <a:off x="822960" y="1783080"/>
            <a:ext cx="10561320" cy="109728"/>
          </a:xfrm>
          <a:prstGeom prst="roundRect">
            <a:avLst>
              <a:gd name="adj" fmla="val 16667"/>
            </a:avLst>
          </a:prstGeom>
          <a:solidFill>
            <a:srgbClr val="192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4855229" name="TextBox 9"/>
          <p:cNvSpPr txBox="1"/>
          <p:nvPr/>
        </p:nvSpPr>
        <p:spPr bwMode="auto">
          <a:xfrm>
            <a:off x="987552" y="1947671"/>
            <a:ext cx="102321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92F44"/>
                </a:solidFill>
                <a:latin typeface="Bahnschrift"/>
              </a:defRPr>
            </a:pPr>
            <a:r>
              <a:rPr/>
              <a:t>Итоги, риски и защита</a:t>
            </a:r>
            <a:endParaRPr/>
          </a:p>
        </p:txBody>
      </p:sp>
      <p:sp>
        <p:nvSpPr>
          <p:cNvPr id="1405947051" name="TextBox 10"/>
          <p:cNvSpPr txBox="1"/>
          <p:nvPr/>
        </p:nvSpPr>
        <p:spPr bwMode="auto">
          <a:xfrm>
            <a:off x="987552" y="2286000"/>
            <a:ext cx="10236455" cy="2225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sz="2000"/>
              <a:t>Разработанное ПО полезно не только для демонстрации SDR, но и как учебный стенд для анализа радиоканала: наблюдения спектра, записи, replay-проверки и оценки устойчивости к шуму.</a:t>
            </a:r>
            <a:br>
              <a:rPr sz="2000"/>
            </a:br>
            <a:br>
              <a:rPr sz="2000"/>
            </a:br>
            <a:r>
              <a:rPr sz="2000"/>
              <a:t>С практической точки зрения проект показывает</a:t>
            </a:r>
            <a:r>
              <a:rPr lang="ru-RU" sz="2000"/>
              <a:t>: уязвимости радиоуправления часто эксплуатируют через перехват, повтор валидных команд, анализ повторяющихся кадров и воздействие на устойчивость канала, если протокол не проверяет источник и новизну сообщения.</a:t>
            </a:r>
            <a:endParaRPr lang="ru-RU" sz="2000"/>
          </a:p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endParaRPr sz="2000"/>
          </a:p>
          <a:p>
            <a:pPr algn="l">
              <a:defRPr sz="1400" b="0">
                <a:solidFill>
                  <a:srgbClr val="20262A"/>
                </a:solidFill>
                <a:latin typeface="Aptos"/>
              </a:defRPr>
            </a:pPr>
            <a:r>
              <a:rPr sz="2000"/>
              <a:t>Корректное применение инструмента — лабораторные исследования, обучение и повышение устойчивости систем, а не создание рабочих сценариев атаки на реальные каналы связи.</a:t>
            </a:r>
            <a:endParaRPr sz="2000"/>
          </a:p>
        </p:txBody>
      </p:sp>
    </p:spTree>
  </p:cSld>
  <p:clrMapOvr>
    <a:masterClrMapping/>
  </p:clrMapOvr>
  <ns2:AlternateContent>
    <ns2:Choice Requires="p159">
      <p:transition ns3:dur="2000" advClick="1"/>
    </ns2:Choice>
    <ns2:Fallback>
      <p:transition advClick="1"/>
    </ns2:Fallback>
  </ns2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4</cp:revision>
  <dcterms:created xsi:type="dcterms:W3CDTF">2013-01-27T09:14:16Z</dcterms:created>
  <dcterms:modified xsi:type="dcterms:W3CDTF">2026-04-23T11:10:08Z</dcterms:modified>
  <cp:category/>
</cp:coreProperties>
</file>